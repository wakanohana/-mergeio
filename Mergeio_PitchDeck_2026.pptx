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Mergeio as the Bloomberg Terminal for SME acquisitions. Pause on the tagline.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$2T SME M&amp;A market runs on spreadsheets and phone calls. Buyers wait weeks for a number. Sellers overpay for bad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at mergeio.io — demo running. 7 phases shipped. Full MVP in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IBBA 2024. The broker model hasn't changed in 30 years. We are 5x cheaper and 100x faster.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SaaS gives us predictable MRR. Transaction fee aligns us with our users. Premium analytics builds the moat with institutional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shown is real and live. Not a mockup. Ask me to pull it up right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one combines AI scoring with a real marketplace at this price point. BizBuySell is a listing board. Axial is for PE funds. We own the SME sweet spot.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flywheel: more sellers → better listings → more buyers → more sellers. Each partnership multiplies listings without extra CAC.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technical founder. The ask includes budget for two key hires. Advisors TBD — strong candidate list available on request.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Conservative estimates. The MRR targets are based on 100 paid users at $150 ARPU for Q1, scaling to 250 by Q2.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raising $250K at a $1.5M pre-money valuation. 18-month runway. Lead investor gets a board observer seat.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energy. Offer a live demo right now on the laptop. Have the calendly link ready on your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Mergeio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SME Acquisition Marketplace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999232"/>
            <a:ext cx="2286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004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 P&amp;L  →  Instant AI valuation  →  Connect with buyers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Investor Presentation ·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mergeio.io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The SME M&amp;A market is fundamentally broken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50876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91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⏳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Too slow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Valuations take days or weeks.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Brokers still work manually.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50876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691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2286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Too expensive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6517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 credible valuation costs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$5,000+ with a consultant.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50876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691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🎲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72200" y="2286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No objectivity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26517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No data-driven way to compare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acquisition targets.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4348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$2T+/year SME M&amp;A market · Average broker fee: 8–12% of deal value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Our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Mergeio: instant intelligence for every deal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📄 Upload P&amp;L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1463040"/>
            <a:ext cx="228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14600" y="146304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4630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🤖 AI Scores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34840" y="1463040"/>
            <a:ext cx="228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4630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💰 Valuation Range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0" y="1463040"/>
            <a:ext cx="228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12280" y="1463040"/>
            <a:ext cx="192024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4630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🤝 Connect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423160"/>
            <a:ext cx="397764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42316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51560" y="25146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Health Score (0–100)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28620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 weighted financial criteria: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revenue, EBITDA, cash flow, debt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423160"/>
            <a:ext cx="397764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42316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🏪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03520" y="25146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Live Marketplace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28620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Filter by sector, score,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region, asking price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520440"/>
            <a:ext cx="397764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52044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51560" y="36118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Market Terminal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9593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Real-time Bloomberg-style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scoring dashboard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520440"/>
            <a:ext cx="397764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52044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303520" y="36118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Secure Auth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39593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JWT · bcrypt · role-based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buyer &amp; seller accounts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Market Opportunity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A massive, underserved market ready for disruption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50876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819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</a:rPr>
              <a:t>$2T+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20756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 SME M&amp;A /year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150876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5819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</a:rPr>
              <a:t>28M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14600" y="20756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SMEs in the US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150876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5819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</a:rPr>
              <a:t>8–12%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17720" y="20756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Avg broker fee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20840" y="150876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15819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</a:rPr>
              <a:t>1–2%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720840" y="20756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Mergeio fee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278892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TAM · SAM · SOM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154680"/>
            <a:ext cx="7315200" cy="402336"/>
          </a:xfrm>
          <a:prstGeom prst="roundRect">
            <a:avLst>
              <a:gd name="adj" fmla="val 15909"/>
            </a:avLst>
          </a:prstGeom>
          <a:solidFill>
            <a:srgbClr val="CCFBF1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154680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TAM — US SME M&amp;A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3154680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$2T+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721608"/>
            <a:ext cx="5029200" cy="402336"/>
          </a:xfrm>
          <a:prstGeom prst="roundRect">
            <a:avLst>
              <a:gd name="adj" fmla="val 15909"/>
            </a:avLst>
          </a:prstGeom>
          <a:solidFill>
            <a:srgbClr val="CCFBF1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721608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SAM — Digital-ready SMEs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72160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$400B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4288536"/>
            <a:ext cx="2011680" cy="402336"/>
          </a:xfrm>
          <a:prstGeom prst="roundRect">
            <a:avLst>
              <a:gd name="adj" fmla="val 15909"/>
            </a:avLst>
          </a:prstGeom>
          <a:solidFill>
            <a:srgbClr val="0D9488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288536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SOM — Year 3 target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428853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$40M ARR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Three compounding revenue streams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50876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64208"/>
            <a:ext cx="384048" cy="256032"/>
          </a:xfrm>
          <a:prstGeom prst="roundRect">
            <a:avLst>
              <a:gd name="adj" fmla="val 2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6420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SaaS Subscriptions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4505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$99 – $149 /mo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2377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0779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Buyers: $99/mo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Sellers: $149/mo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Monthly or annual billing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50876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29000" y="1664208"/>
            <a:ext cx="384048" cy="256032"/>
          </a:xfrm>
          <a:prstGeom prst="roundRect">
            <a:avLst>
              <a:gd name="adj" fmla="val 2857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66420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29000" y="2011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Transaction Fee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24505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1–2% of deal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29000" y="2834640"/>
            <a:ext cx="2377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90779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Charged on completed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acquisitions only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Aligned with user success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1508760"/>
            <a:ext cx="2651760" cy="292608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1664208"/>
            <a:ext cx="384048" cy="256032"/>
          </a:xfrm>
          <a:prstGeom prst="roundRect">
            <a:avLst>
              <a:gd name="adj" fmla="val 28571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66420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309360" y="2011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Premium Analytics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24505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E4A"/>
                </a:solidFill>
              </a:rPr>
              <a:t>$499/mo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09360" y="2834640"/>
            <a:ext cx="2377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90779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Sector benchmarks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Comparable deal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API access for funds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Traction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Full MVP live — 7 phases shipped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81328"/>
            <a:ext cx="397764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481328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6968" y="1481328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Phase 1 — AI P&amp;L Analysis Engine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139696"/>
            <a:ext cx="397764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2139696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6968" y="2139696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Phase 2 — Web Dashboard (upload + results)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798064"/>
            <a:ext cx="397764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798064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86968" y="2798064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Phase 3 — Marketplace (filters + company cards)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397764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456432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3456432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Phase 4 — Live Market Terminal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481328"/>
            <a:ext cx="397764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1481328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38928" y="1481328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Phase 5 — Flask Backend + REST API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139696"/>
            <a:ext cx="397764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139696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38928" y="2139696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Phase 6 — Authentication (JWT + bcrypt)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798064"/>
            <a:ext cx="3977640" cy="512064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2798064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38928" y="2798064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Phase 7 — Deployment (Render.com) — LIVE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🔗 Live demo: ma-plateforme-ma.onrender.com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Competition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We win on speed, price, and intelligence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81328"/>
            <a:ext cx="2011680" cy="38404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813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481328"/>
            <a:ext cx="1554480" cy="38404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4813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Scoring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77640" y="1481328"/>
            <a:ext cx="1645920" cy="38404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148132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Live Marketplace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23560" y="1481328"/>
            <a:ext cx="1828800" cy="38404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14813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Instant Valuation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52360" y="1481328"/>
            <a:ext cx="1554480" cy="38404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148132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1865376"/>
            <a:ext cx="2011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86537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Traditional Brokers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23160" y="1865376"/>
            <a:ext cx="1554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186537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77640" y="1865376"/>
            <a:ext cx="1645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77640" y="186537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23560" y="1865376"/>
            <a:ext cx="1828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3560" y="186537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❌ (weeks)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52360" y="1865376"/>
            <a:ext cx="1554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186537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$5,000+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2432304"/>
            <a:ext cx="201168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43230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BizBuySell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23160" y="2432304"/>
            <a:ext cx="155448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23160" y="243230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977640" y="2432304"/>
            <a:ext cx="164592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77640" y="243230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✅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23560" y="2432304"/>
            <a:ext cx="182880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23560" y="243230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❌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52360" y="2432304"/>
            <a:ext cx="1554480" cy="51206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52360" y="243230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$300/mo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2999232"/>
            <a:ext cx="2011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99923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Axial (PE only)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423160" y="2999232"/>
            <a:ext cx="1554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23160" y="299923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Partial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977640" y="2999232"/>
            <a:ext cx="1645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77640" y="299923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✅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623560" y="2999232"/>
            <a:ext cx="1828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23560" y="299923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❌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452360" y="2999232"/>
            <a:ext cx="1554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52360" y="299923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$1,500/mo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11480" y="3566160"/>
            <a:ext cx="2011680" cy="512064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56616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Mergeio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423160" y="3566160"/>
            <a:ext cx="1554480" cy="512064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23160" y="356616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✅ AI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977640" y="3566160"/>
            <a:ext cx="1645920" cy="512064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77640" y="356616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✅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623560" y="3566160"/>
            <a:ext cx="1828800" cy="512064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23560" y="356616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✅ Instant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452360" y="3566160"/>
            <a:ext cx="1554480" cy="512064"/>
          </a:xfrm>
          <a:prstGeom prst="rect">
            <a:avLst/>
          </a:prstGeom>
          <a:solidFill>
            <a:srgbClr val="CCFB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52360" y="356616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$99/mo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Go-to-Market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Three channels, one flywheel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50876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64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Phase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9385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Direct Outreach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2377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5059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Target SME brokers &amp; accountants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as distribution partners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94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🎯 50 beta users · Q3 2026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50876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664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Phase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9000" y="19385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Content + SEO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29000" y="2377440"/>
            <a:ext cx="2377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45059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"How to value my business"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Keywords · YouTube · LinkedIn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29000" y="379476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3794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🎯 10K monthly visits · Q4 2026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72200" y="150876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664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309360" y="19385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Partnership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309360" y="2377440"/>
            <a:ext cx="23774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45059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Accounting firms · Law firms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M&amp;A advisors as resellers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379476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794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🎯 3 signed partners · Q1 2027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Built by a founder who knows the problem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1371600" cy="1371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VN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103120" y="1600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</a:rPr>
              <a:t>[Votre Nom]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03120" y="20848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Founder &amp; CEO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246888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Add your background here — e.g. 10 years in finance / M&amp;A advisory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Previously at [Company] — deep SME market expertise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Built and shipped full-stack AI platform from 0 to production in [X months]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840480"/>
            <a:ext cx="8321040" cy="822960"/>
          </a:xfrm>
          <a:prstGeom prst="roundRect">
            <a:avLst>
              <a:gd name="adj" fmla="val 11111"/>
            </a:avLst>
          </a:prstGeom>
          <a:solidFill>
            <a:srgbClr val="CCFBF1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4048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🚀  We're hiring: Co-founder (Business Dev / Sales) · Lead Engineer · BD Manager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18-month plan to market leadership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81328"/>
            <a:ext cx="1920240" cy="402336"/>
          </a:xfrm>
          <a:prstGeom prst="roundRect">
            <a:avLst>
              <a:gd name="adj" fmla="val 18182"/>
            </a:avLst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813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Q3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993392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9339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PostgreSQL migration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798064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798064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50 beta sellers onboarded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602736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602736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First paid subscriptions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1481328"/>
            <a:ext cx="1920240" cy="402336"/>
          </a:xfrm>
          <a:prstGeom prst="roundRect">
            <a:avLst>
              <a:gd name="adj" fmla="val 18182"/>
            </a:avLst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4813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Q4 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0" y="1993392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199339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Buyer ↔ Seller messaging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0" y="2798064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2798064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Stripe payments live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0" y="3602736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3602736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Content SEO strategy launch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481328"/>
            <a:ext cx="1920240" cy="402336"/>
          </a:xfrm>
          <a:prstGeom prst="roundRect">
            <a:avLst>
              <a:gd name="adj" fmla="val 18182"/>
            </a:avLst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4813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Q1 2027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1993392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99339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US market launch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798064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798064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3 accounting firm partnerships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3602736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602736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$15K MRR target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0" y="1481328"/>
            <a:ext cx="1920240" cy="402336"/>
          </a:xfrm>
          <a:prstGeom prst="roundRect">
            <a:avLst>
              <a:gd name="adj" fmla="val 18182"/>
            </a:avLst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14813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Q2 2027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0" y="1993392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199339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Mobile app (iOS + Android)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0" y="2798064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0" y="2798064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Series A preparation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58000" y="3602736"/>
            <a:ext cx="1920240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3602736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→ $40K MRR target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The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Pre-seed round: $250K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8321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Use of funds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874520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874520"/>
            <a:ext cx="1536192" cy="502920"/>
          </a:xfrm>
          <a:prstGeom prst="roundRect">
            <a:avLst>
              <a:gd name="adj" fmla="val 1272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745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 &amp; Engineering · 40%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34840" y="18745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Lead engineer hire · PostgreSQL · Mobile app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560320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560320"/>
            <a:ext cx="1152144" cy="502920"/>
          </a:xfrm>
          <a:prstGeom prst="roundRect">
            <a:avLst>
              <a:gd name="adj" fmla="val 1272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60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Sales &amp; Business Dev · 30%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4840" y="25603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BD hire · Partnership outreach · Events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246120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246120"/>
            <a:ext cx="768096" cy="502920"/>
          </a:xfrm>
          <a:prstGeom prst="roundRect">
            <a:avLst>
              <a:gd name="adj" fmla="val 12727"/>
            </a:avLst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46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Marketing &amp; SEO · 20%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34840" y="32461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Content creation · Paid acquisition tests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931920"/>
            <a:ext cx="3840480" cy="502920"/>
          </a:xfrm>
          <a:prstGeom prst="roundRect">
            <a:avLst>
              <a:gd name="adj" fmla="val 1272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931920"/>
            <a:ext cx="384048" cy="502920"/>
          </a:xfrm>
          <a:prstGeom prst="roundRect">
            <a:avLst>
              <a:gd name="adj" fmla="val 16667"/>
            </a:avLst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31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Operations &amp; Legal · 10%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34840" y="393192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Legal structure · Accounting · Admin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572000"/>
            <a:ext cx="8321040" cy="384048"/>
          </a:xfrm>
          <a:prstGeom prst="roundRect">
            <a:avLst>
              <a:gd name="adj" fmla="val 19048"/>
            </a:avLst>
          </a:prstGeom>
          <a:solidFill>
            <a:srgbClr val="CCFBF1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57200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Target: $15K MRR within 12 months · Break-even at 200 paying users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Let's build the future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of SME acquisitions.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2788920"/>
            <a:ext cx="20116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99923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📧  contact@mergeio.io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🔗  mergeio.io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7673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💼  linkedin.com/in/votre-profil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151376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📅  calendly.com/mergeio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1945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D9488"/>
                </a:solidFill>
              </a:rPr>
              <a:t>MERGEIO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2834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mergeio.io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Mergeio — Pitch Deck 2026</dc:title>
  <dc:subject>PptxGenJS Presentation</dc:subject>
  <dc:creator>Mergeio</dc:creator>
  <cp:lastModifiedBy>Mergeio</cp:lastModifiedBy>
  <cp:revision>1</cp:revision>
  <dcterms:created xsi:type="dcterms:W3CDTF">2026-06-23T12:45:09Z</dcterms:created>
  <dcterms:modified xsi:type="dcterms:W3CDTF">2026-06-23T12:45:09Z</dcterms:modified>
</cp:coreProperties>
</file>